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ial Bold" panose="020B0704020202020204" pitchFamily="34" charset="0"/>
      <p:regular r:id="rId17"/>
      <p:bold r:id="rId18"/>
    </p:embeddedFont>
    <p:embeddedFont>
      <p:font typeface="Arial Bold Italics" panose="020B0604020202020204" charset="0"/>
      <p:regular r:id="rId19"/>
    </p:embeddedFont>
    <p:embeddedFont>
      <p:font typeface="Canva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trakrishnakumar/EstateIQ.git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hyperlink" Target="https://estateiq-8j0n.onrender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96021" y="3466722"/>
            <a:ext cx="10888861" cy="255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17"/>
              </a:lnSpc>
            </a:pPr>
            <a:r>
              <a:rPr lang="en-US" sz="7264" b="1" spc="7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 ENGAGEMENT</a:t>
            </a:r>
          </a:p>
          <a:p>
            <a:pPr algn="ctr">
              <a:lnSpc>
                <a:spcPts val="8717"/>
              </a:lnSpc>
            </a:pPr>
            <a:r>
              <a:rPr lang="en-US" sz="7264" b="1" spc="7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PROJECT SUBMISSION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i="1" spc="2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EXPLORING THE POWER OF MACHINE LEARNING WITH IBM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38732" y="4611646"/>
            <a:ext cx="15663522" cy="3284989"/>
          </a:xfrm>
          <a:custGeom>
            <a:avLst/>
            <a:gdLst/>
            <a:ahLst/>
            <a:cxnLst/>
            <a:rect l="l" t="t" r="r" b="b"/>
            <a:pathLst>
              <a:path w="15663522" h="3284989">
                <a:moveTo>
                  <a:pt x="0" y="0"/>
                </a:moveTo>
                <a:lnTo>
                  <a:pt x="15663521" y="0"/>
                </a:lnTo>
                <a:lnTo>
                  <a:pt x="15663521" y="3284989"/>
                </a:lnTo>
                <a:lnTo>
                  <a:pt x="0" y="328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38085" y="6076785"/>
            <a:ext cx="1326917" cy="1653929"/>
          </a:xfrm>
          <a:custGeom>
            <a:avLst/>
            <a:gdLst/>
            <a:ahLst/>
            <a:cxnLst/>
            <a:rect l="l" t="t" r="r" b="b"/>
            <a:pathLst>
              <a:path w="1326917" h="1653929">
                <a:moveTo>
                  <a:pt x="0" y="0"/>
                </a:moveTo>
                <a:lnTo>
                  <a:pt x="1326917" y="0"/>
                </a:lnTo>
                <a:lnTo>
                  <a:pt x="1326917" y="1653929"/>
                </a:lnTo>
                <a:lnTo>
                  <a:pt x="0" y="1653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38732" y="1786133"/>
            <a:ext cx="4984909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TITLE:  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ESTATE IQ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38732" y="2710547"/>
            <a:ext cx="683597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 OF THE PROJECT:  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Estate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53176" y="6139840"/>
            <a:ext cx="3364335" cy="1017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06"/>
              </a:lnSpc>
            </a:pPr>
            <a:r>
              <a:rPr lang="en-US" sz="593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NETRA 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84252" y="6367809"/>
            <a:ext cx="3314028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netrakrishnakumar2007@gmail.com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65415" y="6417579"/>
            <a:ext cx="2656856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8754182108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316896" y="-1983031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464291" y="-420843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5"/>
                </a:lnTo>
                <a:lnTo>
                  <a:pt x="0" y="2587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1013" y="8684473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78408" y="9067862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0"/>
                </a:lnTo>
                <a:lnTo>
                  <a:pt x="0" y="682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997300" y="1569706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79287" y="611867"/>
            <a:ext cx="399657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549" y="2467427"/>
            <a:ext cx="18105451" cy="480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real estate sector is one of the largest contributors to economic growth, yet property pricing remains inconsistent and often lacks transparency.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families, especially first-time home buyers and middle-income households, struggle to determine whether a property's price is fair.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Dependence on manual valuation, local brokers, and subjective opinions can lead to overpricing, underpricing, financial loss, and reduced trust in the housing market.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Property valuation is influenced by multiple factors such as area, location, number of bedrooms, bathrooms, property condition, year built, and garage availability, making accurate estimation complex.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 growing need for an AI-powered, data-driven solution that delivers reliable property valuations within seconds.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EstateIQ</a:t>
            </a: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aims to democratize real estate pricing by providing accurate, transparent, and instant house price predictions, empowering buyers, sellers, and investors to make informed financial decisions.</a:t>
            </a:r>
          </a:p>
          <a:p>
            <a:pPr algn="l">
              <a:lnSpc>
                <a:spcPts val="3800"/>
              </a:lnSpc>
            </a:pPr>
            <a:endParaRPr lang="en-US" sz="2000" spc="24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9354" y="8626890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138777" y="-2012033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4"/>
                </a:moveTo>
                <a:lnTo>
                  <a:pt x="0" y="4149224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18140" y="-942308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50924" y="9017944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5"/>
                </a:lnTo>
                <a:lnTo>
                  <a:pt x="0" y="3205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00584" y="9399703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50104" y="952500"/>
            <a:ext cx="3950970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5168" y="1994316"/>
            <a:ext cx="17742832" cy="529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</a:t>
            </a:r>
            <a:r>
              <a:rPr lang="en-US" sz="2000" spc="2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estateiq</a:t>
            </a: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 intelligent house price prediction platform powered by </a:t>
            </a:r>
            <a:r>
              <a:rPr lang="en-US" sz="2000" spc="2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</a:t>
            </a: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spc="2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watsonx.Ai</a:t>
            </a: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studio </a:t>
            </a:r>
            <a:r>
              <a:rPr lang="en-US" sz="2000" spc="2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autoai</a:t>
            </a: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essential property features including area, location, bedrooms, bathrooms, condition, year built, floors, and garage availability through a simple web interface.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Utilize IBM </a:t>
            </a:r>
            <a:r>
              <a:rPr lang="en-US" sz="2000" spc="2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AutoAI</a:t>
            </a: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automate data preprocessing, feature engineering, algorithm selection, model training, and hyperparameter optimization.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 the best-performing regression model and integrate it with a Flask-based web application for real-time predictions.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instant, data-driven house price estimates, reducing dependence on manual valuation and subjective judgments.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Promote fairness, transparency, and accessibility in property valuation, enabling buyers, sellers, investors, and financial institutions to make confident decisions.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scalable solution that can be enhanced in the future with real-time market trends, GIS-based location intelligence, and property recommendation features.</a:t>
            </a:r>
          </a:p>
          <a:p>
            <a:pPr algn="l">
              <a:lnSpc>
                <a:spcPts val="3800"/>
              </a:lnSpc>
            </a:pPr>
            <a:endParaRPr lang="en-US" sz="2000" spc="24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830639" y="-1813198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4"/>
                </a:moveTo>
                <a:lnTo>
                  <a:pt x="0" y="4149224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70406" y="1523595"/>
            <a:ext cx="358890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1474" y="2891964"/>
            <a:ext cx="18128743" cy="425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Cloud</a:t>
            </a: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It provides the infrastructure to build, deploy, and scale EstateIQ efficiently. IBM Cloud offers a secure, reliable, and scalable environment for deploying the AI-powered House Price Prediction System, enabling real-time property valuation and seamless user access.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ML Algorithm / Model Used</a:t>
            </a: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Ridge Regression (Selected by IBM watsonx.ai AutoAI)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Accuracy Obtained</a:t>
            </a: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90%  Model performance evaluated using R² Score, RMSE, and MAE (Regression Metrics).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Enhancements and Hyperparameter Tuning</a:t>
            </a: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Automatically performed by IBM watsonx.ai AutoAI through intelligent data preprocessing, feature engineering, cross-validation, algorithm selection, and hyperparameter optimization to improve prediction performance.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 Technologies:</a:t>
            </a: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HTML5, CSS3, Bootstrap 5, JavaScript for a responsive and user-friendly interface.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 Technology</a:t>
            </a: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Python Flask for integrating the trained AI model with the web application and enabling real-time predictions.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Deployment</a:t>
            </a: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IBM Cloud Deployment Space for secure online model deployment and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1054" y="2478243"/>
            <a:ext cx="12775068" cy="6968219"/>
          </a:xfrm>
          <a:custGeom>
            <a:avLst/>
            <a:gdLst/>
            <a:ahLst/>
            <a:cxnLst/>
            <a:rect l="l" t="t" r="r" b="b"/>
            <a:pathLst>
              <a:path w="12775068" h="6968219">
                <a:moveTo>
                  <a:pt x="0" y="0"/>
                </a:moveTo>
                <a:lnTo>
                  <a:pt x="12775068" y="0"/>
                </a:lnTo>
                <a:lnTo>
                  <a:pt x="12775068" y="6968219"/>
                </a:lnTo>
                <a:lnTo>
                  <a:pt x="0" y="6968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96139" y="1341642"/>
            <a:ext cx="4352449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20847" y="1214372"/>
            <a:ext cx="4943608" cy="8717084"/>
          </a:xfrm>
          <a:custGeom>
            <a:avLst/>
            <a:gdLst/>
            <a:ahLst/>
            <a:cxnLst/>
            <a:rect l="l" t="t" r="r" b="b"/>
            <a:pathLst>
              <a:path w="4943608" h="8717084">
                <a:moveTo>
                  <a:pt x="0" y="0"/>
                </a:moveTo>
                <a:lnTo>
                  <a:pt x="4943609" y="0"/>
                </a:lnTo>
                <a:lnTo>
                  <a:pt x="4943609" y="8717084"/>
                </a:lnTo>
                <a:lnTo>
                  <a:pt x="0" y="8717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6" b="-1587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79335" y="442167"/>
            <a:ext cx="4286607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TRAINING SCREENSHOT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895" y="5210754"/>
            <a:ext cx="6555047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Prediction Result $418,320 Estimated property value based on AI analysis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49181" y="2846169"/>
            <a:ext cx="13084230" cy="6615714"/>
          </a:xfrm>
          <a:custGeom>
            <a:avLst/>
            <a:gdLst/>
            <a:ahLst/>
            <a:cxnLst/>
            <a:rect l="l" t="t" r="r" b="b"/>
            <a:pathLst>
              <a:path w="13084230" h="6615714">
                <a:moveTo>
                  <a:pt x="0" y="0"/>
                </a:moveTo>
                <a:lnTo>
                  <a:pt x="13084230" y="0"/>
                </a:lnTo>
                <a:lnTo>
                  <a:pt x="13084230" y="6615714"/>
                </a:lnTo>
                <a:lnTo>
                  <a:pt x="0" y="6615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66721" y="1523595"/>
            <a:ext cx="4286607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TRAINING 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127826" y="2874483"/>
            <a:ext cx="13084230" cy="6623891"/>
          </a:xfrm>
          <a:custGeom>
            <a:avLst/>
            <a:gdLst/>
            <a:ahLst/>
            <a:cxnLst/>
            <a:rect l="l" t="t" r="r" b="b"/>
            <a:pathLst>
              <a:path w="13084230" h="6623891">
                <a:moveTo>
                  <a:pt x="0" y="0"/>
                </a:moveTo>
                <a:lnTo>
                  <a:pt x="13084230" y="0"/>
                </a:lnTo>
                <a:lnTo>
                  <a:pt x="13084230" y="6623892"/>
                </a:lnTo>
                <a:lnTo>
                  <a:pt x="0" y="6623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43018" y="1715024"/>
            <a:ext cx="4286607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TRAINING SCREENSHOT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8" y="896811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9" y="0"/>
                </a:lnTo>
                <a:lnTo>
                  <a:pt x="3596109" y="3596108"/>
                </a:lnTo>
                <a:lnTo>
                  <a:pt x="0" y="35961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30629" y="8968116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44432" y="9604549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08324" y="1139199"/>
            <a:ext cx="507718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NOVELITY AND UNIQUENESS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4690" y="2584570"/>
            <a:ext cx="18090655" cy="568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EstateIQ transforms traditional property valuation into an AI-driven decision support system, enabling fast, transparent, and data-based house price estimation instead of relying on subjective market opinions.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Powered by IBM watsonx.ai AutoAI, the system automatically performs intelligent data preprocessing, feature engineering, algorithm selection, and hyperparameter optimization to identify the most suitable regression model with minimal manual effort.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conventional pricing methods, EstateIQ simultaneously evaluates multiple property attributes such as location, area, bedrooms, bathrooms, property condition, year built, floors, and garage availability to generate reliable market value predictions.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integrated web application delivers real-time price predictions, making AI-powered property valuation accessible to home buyers, sellers, investors, and real estate professionals through a simple and user-friendly interface.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promoting fair and transparent property pricing, EstateIQ reduces pricing bias, minimizes valuation inconsistencies, and empowers citizens to make informed financial decisions, contributing to a more trustworthy and efficient real estate ecosystem.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spc="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"EstateIQ bridges the gap between Artificial Intelligence and real estate by making intelligent property valuation accessible to everyone, supporting smarter investments and a more transparent housing market.”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96021" y="2525211"/>
            <a:ext cx="2987711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 HUB LINK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8181" y="4486021"/>
            <a:ext cx="10756053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 hub link:</a:t>
            </a:r>
            <a:r>
              <a:rPr lang="en-US" sz="3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github.com/Netrakrishnakumar/EstateIQ.git"/>
              </a:rPr>
              <a:t>https://github.com/Netrakrishnakumar/EstateIQ.git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58181" y="5724138"/>
            <a:ext cx="1012182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deployment url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3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 tooltip="https://estateiq-8j0n.onrender.com"/>
              </a:rPr>
              <a:t>https://estateiq-8j0n.onrender.com/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7659" y="-1528762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5"/>
                </a:lnTo>
                <a:lnTo>
                  <a:pt x="0" y="2587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62471" y="8684473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1" y="0"/>
                </a:lnTo>
                <a:lnTo>
                  <a:pt x="3216751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620123"/>
            <a:ext cx="1168925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799" b="1" spc="2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SCOPE: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6182" y="1514587"/>
            <a:ext cx="14614071" cy="806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Integrate real-time market data from real estate platforms to provide dynamic and up-to-date property price predictions.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Expand the prediction model by including additional factors such as nearby schools, hospitals, public transport, crime rate, pollution levels, and local amenities for more accurate valuation.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Develop an interactive map-based interface using GIS to visualize property prices across different locations and neighborhoods.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Incorporate market trend analysis to forecast future property prices, helping buyers and investors make long-term investment decisions.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Build a mobile application to provide instant property valuation and AI-powered recommendations anytime and anywhere.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 personalized property recommendations based on user preferences, budget, location, and lifestyle requirements.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Enable continuous model learning by automatically retraining the AI model with newly available property data to improve prediction accuracy over time.</a:t>
            </a:r>
          </a:p>
          <a:p>
            <a:pPr marL="431801" lvl="1" indent="-215900" algn="l">
              <a:lnSpc>
                <a:spcPts val="3800"/>
              </a:lnSpc>
              <a:buFont typeface="Arial"/>
              <a:buChar char="•"/>
            </a:pPr>
            <a:r>
              <a:rPr lang="en-US" sz="2000" b="1" spc="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Deploy the system at a larger scale to support real estate agencies, financial institutions, government housing departments, and property investors with intelligent, data-driven decision-making.</a:t>
            </a:r>
          </a:p>
          <a:p>
            <a:pPr algn="l">
              <a:lnSpc>
                <a:spcPts val="3800"/>
              </a:lnSpc>
            </a:pPr>
            <a:endParaRPr lang="en-US" sz="2000" b="1" spc="24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21608" y="2394507"/>
            <a:ext cx="8253101" cy="6584107"/>
          </a:xfrm>
          <a:custGeom>
            <a:avLst/>
            <a:gdLst/>
            <a:ahLst/>
            <a:cxnLst/>
            <a:rect l="l" t="t" r="r" b="b"/>
            <a:pathLst>
              <a:path w="8253101" h="6584107">
                <a:moveTo>
                  <a:pt x="0" y="0"/>
                </a:moveTo>
                <a:lnTo>
                  <a:pt x="8253101" y="0"/>
                </a:lnTo>
                <a:lnTo>
                  <a:pt x="8253101" y="6584107"/>
                </a:lnTo>
                <a:lnTo>
                  <a:pt x="0" y="65841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43979" y="1139199"/>
            <a:ext cx="3825478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CERTIFCATE EARNED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17275" y="2413542"/>
            <a:ext cx="9560683" cy="6844758"/>
          </a:xfrm>
          <a:custGeom>
            <a:avLst/>
            <a:gdLst/>
            <a:ahLst/>
            <a:cxnLst/>
            <a:rect l="l" t="t" r="r" b="b"/>
            <a:pathLst>
              <a:path w="9560683" h="6844758">
                <a:moveTo>
                  <a:pt x="0" y="0"/>
                </a:moveTo>
                <a:lnTo>
                  <a:pt x="9560683" y="0"/>
                </a:lnTo>
                <a:lnTo>
                  <a:pt x="9560683" y="6844758"/>
                </a:lnTo>
                <a:lnTo>
                  <a:pt x="0" y="6844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61847" y="1283260"/>
            <a:ext cx="344304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BOB CERTIFICATE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09465" y="3468052"/>
            <a:ext cx="9438006" cy="3046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55"/>
              </a:lnSpc>
            </a:pPr>
            <a:r>
              <a:rPr lang="en-US" sz="12539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THANK YOU</a:t>
            </a:r>
          </a:p>
          <a:p>
            <a:pPr algn="ctr">
              <a:lnSpc>
                <a:spcPts val="5851"/>
              </a:lnSpc>
              <a:spcBef>
                <a:spcPct val="0"/>
              </a:spcBef>
            </a:pPr>
            <a:r>
              <a:rPr lang="en-US" sz="417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“</a:t>
            </a:r>
            <a:r>
              <a:rPr lang="en-US" sz="4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YOUR INTREST AND TIME”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964</Words>
  <Application>Microsoft Office PowerPoint</Application>
  <PresentationFormat>Custom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 Bold Italics</vt:lpstr>
      <vt:lpstr>Calibri</vt:lpstr>
      <vt:lpstr>Canva Sans Bold</vt:lpstr>
      <vt:lpstr>Arial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Abstract Minimalist Project Presentation</dc:title>
  <cp:lastModifiedBy>Vardhini Krishnakumar</cp:lastModifiedBy>
  <cp:revision>2</cp:revision>
  <dcterms:created xsi:type="dcterms:W3CDTF">2006-08-16T00:00:00Z</dcterms:created>
  <dcterms:modified xsi:type="dcterms:W3CDTF">2026-07-12T09:54:06Z</dcterms:modified>
  <dc:identifier>DAHPJbTHGxI</dc:identifier>
</cp:coreProperties>
</file>